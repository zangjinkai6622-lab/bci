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0"/>
            <a:ext cx="5486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0"/>
            <a:ext cx="11585448" cy="45720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3504" y="5120640"/>
            <a:ext cx="11585448" cy="1737360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5120640"/>
            <a:ext cx="11585448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914400"/>
            <a:ext cx="1078992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软雅黑" panose="020B0503020204020204" charset="-122"/>
              </a:rPr>
              <a:t>2026 全球校园人工智能算法精英大赛 · 算法创新赛（AI＋学科交叉）</a:t>
            </a:r>
            <a:endParaRPr sz="14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10789920" cy="15544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4200" b="1" i="0">
                <a:solidFill>
                  <a:srgbClr val="0F172A"/>
                </a:solidFill>
                <a:latin typeface="微软雅黑" panose="020B0503020204020204" charset="-122"/>
              </a:rPr>
              <a:t>机械臂意念控制的</a:t>
            </a:r>
            <a:endParaRPr sz="4200" b="1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 algn="ctr"/>
            <a:r>
              <a:rPr sz="4200" b="1" i="0">
                <a:solidFill>
                  <a:srgbClr val="0F172A"/>
                </a:solidFill>
                <a:latin typeface="微软雅黑" panose="020B0503020204020204" charset="-122"/>
              </a:rPr>
              <a:t>自适应脑电解码算法</a:t>
            </a:r>
            <a:endParaRPr sz="42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0" y="3794760"/>
            <a:ext cx="3017520" cy="3657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20640" y="3877056"/>
            <a:ext cx="1920240" cy="137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78992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微软雅黑" panose="020B0503020204020204" charset="-122"/>
              </a:rPr>
              <a:t>运动想象脑电解码 · 跨被试免校准 · 三自由度辅助机械臂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789920" cy="10972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微软雅黑" panose="020B0503020204020204" charset="-122"/>
              </a:rPr>
              <a:t>团队：灵犀智臂      团队编号：____________</a:t>
            </a:r>
            <a:endParaRPr sz="1300" b="0" i="0">
              <a:solidFill>
                <a:srgbClr val="475569"/>
              </a:solidFill>
              <a:latin typeface="微软雅黑" panose="020B0503020204020204" charset="-122"/>
            </a:endParaRPr>
          </a:p>
          <a:p>
            <a:pPr algn="ctr"/>
            <a:r>
              <a:rPr sz="1300" b="0" i="0">
                <a:solidFill>
                  <a:srgbClr val="475569"/>
                </a:solidFill>
                <a:latin typeface="微软雅黑" panose="020B0503020204020204" charset="-122"/>
              </a:rPr>
              <a:t>公开基准 BCI Competition IV-2a ｜ 9 被试 × 2 场次 × 3888 试验</a:t>
            </a:r>
            <a:endParaRPr sz="13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汇报提纲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63040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1463040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项目背景与核心目标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645920" y="2029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463040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59" y="1463040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需求分析与学科界定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223759" y="2029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06040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2606040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系统架构与数据平台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645920" y="3172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2606040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59" y="2606040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STFA-Net 与 MAG 门控创新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7223759" y="3172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749039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45920" y="3749039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跨被试免校准方法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645920" y="4315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49039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06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223759" y="3749039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实验结果：对比 / 消融 / LOSO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223759" y="4315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892040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07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45920" y="4892040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校准流程量化对比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645920" y="5458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4892040"/>
            <a:ext cx="685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08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223759" y="4892040"/>
            <a:ext cx="45720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1800" b="0" i="0">
                <a:solidFill>
                  <a:srgbClr val="0F172A"/>
                </a:solidFill>
                <a:latin typeface="微软雅黑" panose="020B0503020204020204" charset="-122"/>
              </a:rPr>
              <a:t>总结、展望与演示</a:t>
            </a:r>
            <a:endParaRPr sz="18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223759" y="5458968"/>
            <a:ext cx="42976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1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一、项目背景与痛点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292608"/>
            <a:ext cx="2103120" cy="4572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92608"/>
            <a:ext cx="21031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微软雅黑" panose="020B0503020204020204" charset="-122"/>
              </a:rPr>
              <a:t>神经工程 / 康复工程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143000"/>
            <a:ext cx="113385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通过解析大脑感觉运动区 EEG，帮助 ALS、高位截瘫、脑卒中患者用意念控制辅助机械臂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11480" y="2011680"/>
            <a:ext cx="3657600" cy="329184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121408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 i="0">
                <a:solidFill>
                  <a:srgbClr val="0F766E"/>
                </a:solidFill>
                <a:latin typeface="微软雅黑" panose="020B0503020204020204" charset="-122"/>
              </a:rPr>
              <a:t>样本稀缺</a:t>
            </a:r>
            <a:endParaRPr sz="19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00200" y="2852928"/>
            <a:ext cx="1280160" cy="18288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32004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  <a:latin typeface="微软雅黑" panose="020B0503020204020204" charset="-122"/>
              </a:rPr>
              <a:t>每用户仅约 200 次</a:t>
            </a:r>
            <a:endParaRPr sz="1600" b="0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 algn="ctr"/>
            <a:r>
              <a:rPr sz="1600" b="0" i="0">
                <a:solidFill>
                  <a:srgbClr val="0F172A"/>
                </a:solidFill>
                <a:latin typeface="微软雅黑" panose="020B0503020204020204" charset="-122"/>
              </a:rPr>
              <a:t>4s 有标签试验</a:t>
            </a:r>
            <a:endParaRPr sz="16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389120"/>
            <a:ext cx="32004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软雅黑" panose="020B0503020204020204" charset="-122"/>
              </a:rPr>
              <a:t>深度模型易过拟合</a:t>
            </a:r>
            <a:endParaRPr sz="14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389120" y="2011680"/>
            <a:ext cx="3657600" cy="329184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2121408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 i="0">
                <a:solidFill>
                  <a:srgbClr val="0F766E"/>
                </a:solidFill>
                <a:latin typeface="微软雅黑" panose="020B0503020204020204" charset="-122"/>
              </a:rPr>
              <a:t>校准耗时</a:t>
            </a:r>
            <a:endParaRPr sz="19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577840" y="2852928"/>
            <a:ext cx="1280160" cy="18288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17720" y="3108960"/>
            <a:ext cx="32004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  <a:latin typeface="微软雅黑" panose="020B0503020204020204" charset="-122"/>
              </a:rPr>
              <a:t>新用户需 20–30 分钟</a:t>
            </a:r>
            <a:endParaRPr sz="1600" b="0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 algn="ctr"/>
            <a:r>
              <a:rPr sz="1600" b="0" i="0">
                <a:solidFill>
                  <a:srgbClr val="0F172A"/>
                </a:solidFill>
                <a:latin typeface="微软雅黑" panose="020B0503020204020204" charset="-122"/>
              </a:rPr>
              <a:t>有标签标定</a:t>
            </a:r>
            <a:endParaRPr sz="16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17720" y="4389120"/>
            <a:ext cx="32004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软雅黑" panose="020B0503020204020204" charset="-122"/>
              </a:rPr>
              <a:t>占用康复黄金时间</a:t>
            </a:r>
            <a:endParaRPr sz="14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366759" y="2011680"/>
            <a:ext cx="3657600" cy="3291840"/>
          </a:xfrm>
          <a:prstGeom prst="roundRect">
            <a:avLst/>
          </a:prstGeom>
          <a:solidFill>
            <a:srgbClr val="E6F2F0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59" y="2121408"/>
            <a:ext cx="3200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900" b="1" i="0">
                <a:solidFill>
                  <a:srgbClr val="0F766E"/>
                </a:solidFill>
                <a:latin typeface="微软雅黑" panose="020B0503020204020204" charset="-122"/>
              </a:rPr>
              <a:t>跨被试漂移</a:t>
            </a:r>
            <a:endParaRPr sz="19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555480" y="2852928"/>
            <a:ext cx="1280160" cy="18288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59" y="3108960"/>
            <a:ext cx="3200400" cy="11887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0" i="0">
                <a:solidFill>
                  <a:srgbClr val="0F172A"/>
                </a:solidFill>
                <a:latin typeface="微软雅黑" panose="020B0503020204020204" charset="-122"/>
              </a:rPr>
              <a:t>脑形态/阻抗差异大</a:t>
            </a:r>
            <a:endParaRPr sz="1600" b="0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 algn="ctr"/>
            <a:r>
              <a:rPr sz="1600" b="0" i="0">
                <a:solidFill>
                  <a:srgbClr val="0F172A"/>
                </a:solidFill>
                <a:latin typeface="微软雅黑" panose="020B0503020204020204" charset="-122"/>
              </a:rPr>
              <a:t>换人即可能失效</a:t>
            </a:r>
            <a:endParaRPr sz="16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95359" y="4389120"/>
            <a:ext cx="32004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0" i="0">
                <a:solidFill>
                  <a:srgbClr val="475569"/>
                </a:solidFill>
                <a:latin typeface="微软雅黑" panose="020B0503020204020204" charset="-122"/>
              </a:rPr>
              <a:t>实训难标准化</a:t>
            </a:r>
            <a:endParaRPr sz="14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1480" y="5577840"/>
            <a:ext cx="11338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700" b="1" i="0">
                <a:solidFill>
                  <a:srgbClr val="0F172A"/>
                </a:solidFill>
                <a:latin typeface="微软雅黑" panose="020B0503020204020204" charset="-122"/>
              </a:rPr>
              <a:t>动作映射：左手 → 左移      右手 → 右移      双脚 → 抓取</a:t>
            </a:r>
            <a:endParaRPr sz="17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2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二、需求分析与学科界定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1188720"/>
            <a:ext cx="5394960" cy="18288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学科归属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生物医学工程 · 神经工程 / 康复工程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环节：神经科学实验实训 + MI-BCI 科研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目标：实验效率 + 可及性 + 标准化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5080" y="1188720"/>
            <a:ext cx="5394960" cy="18288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371600"/>
            <a:ext cx="49377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AI 赋能切入点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0" y="1874519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小样本自适应建模（MAG 门控）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无标签跨被试对齐（EA）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实时推理 + 机械臂闭环控制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11480" y="3383280"/>
          <a:ext cx="11338558" cy="2514600"/>
        </p:xfrm>
        <a:graphic>
          <a:graphicData uri="http://schemas.openxmlformats.org/drawingml/2006/table">
            <a:tbl>
              <a:tblPr/>
              <a:tblGrid>
                <a:gridCol w="3488787"/>
                <a:gridCol w="4012105"/>
                <a:gridCol w="3837666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学科需求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AI 技术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模型模块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样本少、防过拟合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零初始化门控 + 正则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MAG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空间模式判别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深度空间卷积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Spatial Conv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多节律时频结构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多尺度时间 + STFT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Temporal / Frequency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新用户免校准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无标签 EA + 域对抗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EA / GRL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3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三、系统总体架构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1_system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11155680" cy="404106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2920" y="6172200"/>
            <a:ext cx="1115568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300" b="0" i="0">
                <a:solidFill>
                  <a:srgbClr val="475569"/>
                </a:solidFill>
                <a:latin typeface="微软雅黑" panose="020B0503020204020204" charset="-122"/>
              </a:rPr>
              <a:t>信号采集（22 导）→ 预处理（1–40Hz 带通、50Hz 陷波）→ STFA-Net 解码 → 三自由度机械臂</a:t>
            </a:r>
            <a:endParaRPr sz="13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4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12" name="Picture 11" descr="fig0_graphical_abs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10972800" cy="5571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四、STFA-Net 时空频自适应网络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2_stfa_netwo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7406640" cy="423663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183879" y="1280160"/>
            <a:ext cx="3611880" cy="484632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四条并行分支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0" y="2011680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多尺度时间卷积
核 16 / 32 / 64（0.32–1.28s）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深度空间卷积
跨 22 电极，groups=16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STFT 频域分支
1–40Hz，3×3 卷积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通道注意力
SE 式可靠度加权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融合：Concat + Dropout + FC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5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88720"/>
            <a:ext cx="7498079" cy="42889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五、核心创新：模块可靠性自适应门控 MAG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3_gating_mechanis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6766560" cy="25968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371600"/>
            <a:ext cx="4297680" cy="448056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554480"/>
            <a:ext cx="38404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设计要点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26679" y="2057400"/>
            <a:ext cx="3931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500">
                <a:solidFill>
                  <a:srgbClr val="0F172A"/>
                </a:solidFill>
                <a:latin typeface="微软雅黑" panose="020B0503020204020204" charset="-122"/>
              </a:rPr>
              <a:t>残差形式：x · (1 + αw)</a:t>
            </a:r>
            <a:endParaRPr sz="15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500">
                <a:solidFill>
                  <a:srgbClr val="0F172A"/>
                </a:solidFill>
                <a:latin typeface="微软雅黑" panose="020B0503020204020204" charset="-122"/>
              </a:rPr>
              <a:t>α 零初始化：开训等价恒等映射</a:t>
            </a:r>
            <a:endParaRPr sz="15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500">
                <a:solidFill>
                  <a:srgbClr val="0F172A"/>
                </a:solidFill>
                <a:latin typeface="微软雅黑" panose="020B0503020204020204" charset="-122"/>
              </a:rPr>
              <a:t>α 可导出：训练后门控强度即裁决</a:t>
            </a:r>
            <a:endParaRPr sz="15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500">
                <a:solidFill>
                  <a:srgbClr val="0F172A"/>
                </a:solidFill>
                <a:latin typeface="微软雅黑" panose="020B0503020204020204" charset="-122"/>
              </a:rPr>
              <a:t>数据梯度自动取舍，替代先验堆叠</a:t>
            </a:r>
            <a:endParaRPr sz="15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806440"/>
            <a:ext cx="1124712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400" b="1" i="0">
                <a:solidFill>
                  <a:srgbClr val="B4530E"/>
                </a:solidFill>
                <a:latin typeface="微软雅黑" panose="020B0503020204020204" charset="-122"/>
              </a:rPr>
              <a:t>实测：通道 −0.09 / 时间 −0.40 / 特征 −0.34 / 频域 −0.14（5 seeds），弱模块被自适应抑制，与消融结果互证</a:t>
            </a:r>
            <a:endParaRPr sz="1400" b="1" i="0">
              <a:solidFill>
                <a:srgbClr val="B4530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6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六、跨被试免校准泛化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g4_cross_subje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949440" cy="297666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371600"/>
            <a:ext cx="4069080" cy="45720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1554480"/>
            <a:ext cx="36576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两级机制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955279" y="2103120"/>
            <a:ext cx="3657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EA 欧氏对齐：测试端
仅用自身无标签信号，22.5ms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GRL 梯度反转：被试
鉴别器反向编码域不变特征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55279" y="4297680"/>
            <a:ext cx="365760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协议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955279" y="480060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LOSO 留一被试 · 9 折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每折 × 5 seeds 重复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</a:rPr>
              <a:t>对齐/划分全折统一，公平对照</a:t>
            </a:r>
            <a:endParaRPr sz="14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7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七、实验结果（1）被试内对比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292608"/>
            <a:ext cx="2103120" cy="4572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92608"/>
            <a:ext cx="21031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微软雅黑" panose="020B0503020204020204" charset="-122"/>
              </a:rPr>
              <a:t>5 seeds · 3888 试验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17320"/>
          <a:ext cx="11338558" cy="3968496"/>
        </p:xfrm>
        <a:graphic>
          <a:graphicData uri="http://schemas.openxmlformats.org/drawingml/2006/table">
            <a:tbl>
              <a:tblPr/>
              <a:tblGrid>
                <a:gridCol w="2858460"/>
                <a:gridCol w="1715076"/>
                <a:gridCol w="2286768"/>
                <a:gridCol w="2286768"/>
                <a:gridCol w="2191486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模型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参数量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Accuracy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Macro-F1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推理 ms/样本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RF（手工特征）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-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49.74% ± 0.00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49.80% ± 0.00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0.029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SVM（手工特征）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-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51.29% ± 0.00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51.35% ± 0.00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0.121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LR（手工特征）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-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48.97% ± 0.00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49.08% ± 0.00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0.002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EEGNet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2947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63.26% ± 1.64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62.75% ± 1.77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0.016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STFA-Net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13469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66.02% ± 1.22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65.84% ± 1.31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0.153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STFA-DGNet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18214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64.34% ± 2.97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64.06% ± 3.15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0.160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669280"/>
            <a:ext cx="11338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600" b="1" i="0">
                <a:solidFill>
                  <a:srgbClr val="0F766E"/>
                </a:solidFill>
                <a:latin typeface="微软雅黑" panose="020B0503020204020204" charset="-122"/>
              </a:rPr>
              <a:t>STFA-Net 较 EEGNet +2.76pp，较传统 ML +14.7pp 以上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8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七、实验结果（2）消融实验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292608"/>
            <a:ext cx="2103120" cy="4572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92608"/>
            <a:ext cx="21031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微软雅黑" panose="020B0503020204020204" charset="-122"/>
              </a:rPr>
              <a:t>逐模块移除 · 5 seeds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17320"/>
          <a:ext cx="11338557" cy="3291839"/>
        </p:xfrm>
        <a:graphic>
          <a:graphicData uri="http://schemas.openxmlformats.org/drawingml/2006/table">
            <a:tbl>
              <a:tblPr/>
              <a:tblGrid>
                <a:gridCol w="2784909"/>
                <a:gridCol w="1790298"/>
                <a:gridCol w="2585987"/>
                <a:gridCol w="1591376"/>
                <a:gridCol w="2585987"/>
              </a:tblGrid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配置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参数量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Accuracy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Δ pp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Macro-F1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完整模型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13469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63.39% ± 2.60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63.35% ± 2.59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去多尺度时间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9013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62.39% ± 2.45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-1.00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62.22% ± 2.53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去空间卷积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9767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45.68% ± 3.80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-17.71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41.52% ± 6.90</a:t>
                      </a:r>
                      <a:endParaRPr sz="1400" b="1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F0"/>
                    </a:solidFill>
                  </a:tcPr>
                </a:tc>
              </a:tr>
              <a:tr h="548639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去注意力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11766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64.73% ± 1.21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+1.34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64.63% ± 1.26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48644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去频域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9179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65.40% ± 1.15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+2.01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65.35% ± 1.16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5623560"/>
            <a:ext cx="1133856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500" b="1" i="0">
                <a:solidFill>
                  <a:srgbClr val="B4530E"/>
                </a:solidFill>
                <a:latin typeface="微软雅黑" panose="020B0503020204020204" charset="-122"/>
              </a:rPr>
              <a:t>空间卷积为硬依赖（−17.71pp、F1 −21.83pp）；多尺度时间弱贡献（−1.00pp）；</a:t>
            </a:r>
            <a:endParaRPr sz="1500" b="1" i="0">
              <a:solidFill>
                <a:srgbClr val="B4530E"/>
              </a:solidFill>
              <a:latin typeface="微软雅黑" panose="020B0503020204020204" charset="-122"/>
            </a:endParaRPr>
          </a:p>
          <a:p>
            <a:pPr algn="ctr"/>
            <a:r>
              <a:rPr sz="1500" b="1" i="0">
                <a:solidFill>
                  <a:srgbClr val="B4530E"/>
                </a:solidFill>
                <a:latin typeface="微软雅黑" panose="020B0503020204020204" charset="-122"/>
              </a:rPr>
              <a:t>注意力/频域移除反升，与 MAG 门控 α 实测为负相互印证</a:t>
            </a:r>
            <a:endParaRPr sz="1500" b="1" i="0">
              <a:solidFill>
                <a:srgbClr val="B4530E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9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七、实验结果（3）跨被试 LOSO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292608"/>
            <a:ext cx="2103120" cy="4572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92608"/>
            <a:ext cx="21031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微软雅黑" panose="020B0503020204020204" charset="-122"/>
              </a:rPr>
              <a:t>9 折 × 5 seeds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11480" y="1417320"/>
          <a:ext cx="11338559" cy="2514600"/>
        </p:xfrm>
        <a:graphic>
          <a:graphicData uri="http://schemas.openxmlformats.org/drawingml/2006/table">
            <a:tbl>
              <a:tblPr/>
              <a:tblGrid>
                <a:gridCol w="3850831"/>
                <a:gridCol w="2567221"/>
                <a:gridCol w="2567221"/>
                <a:gridCol w="2353286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模型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LOSO Accuracy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Macro-F1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F766E"/>
                          </a:solidFill>
                          <a:latin typeface="微软雅黑" panose="020B0503020204020204" charset="-122"/>
                        </a:rPr>
                        <a:t>推理 ms/样本</a:t>
                      </a:r>
                      <a:endParaRPr sz="1300" b="1">
                        <a:solidFill>
                          <a:srgbClr val="0F766E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 w="19050" cap="flat" algn="ctr">
                      <a:solidFill>
                        <a:srgbClr val="0F172A"/>
                      </a:solidFill>
                    </a:lnT>
                    <a:lnB w="12700" cap="flat" algn="ctr">
                      <a:solidFill>
                        <a:srgbClr val="0F172A"/>
                      </a:solidFill>
                    </a:lnB>
                    <a:solidFill>
                      <a:srgbClr val="E6F2F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EEGNet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55.73% ± 15.20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53.31% ± 17.58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0.013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STFA-Net（EA，无对抗）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51.57% ± 15.32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47.77% ± 17.56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0.151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STFA-DGNet（EA+GRL）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51.55% ± 14.89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47.82% ± 17.13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0.150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STFA-Net（2b 预训练迁移）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52.48 ± 15.13%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>
                          <a:solidFill>
                            <a:srgbClr val="0F172A"/>
                          </a:solidFill>
                          <a:latin typeface="微软雅黑" panose="020B0503020204020204" charset="-122"/>
                        </a:rPr>
                        <a:t>—</a:t>
                      </a:r>
                      <a:endParaRPr sz="1400">
                        <a:solidFill>
                          <a:srgbClr val="0F172A"/>
                        </a:solidFill>
                        <a:latin typeface="微软雅黑" panose="020B0503020204020204" charset="-122"/>
                      </a:endParaRPr>
                    </a:p>
                  </a:txBody>
                  <a:tcPr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algn="ctr">
                      <a:solidFill>
                        <a:srgbClr val="0F172A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11480" y="3931920"/>
            <a:ext cx="1133856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诚实结论：9 被试规模下 GRL 增益 −0.02pp；2b 跨数据集预训练迁移使 LOSO 由 51.57% 提升至 52.48%（+0.91pp）；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 algn="ctr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折间 std ≈ 15pp，跨被试主要瓶颈是被试间分布差异而非模型容量；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  <a:p>
            <a:pPr algn="ctr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2b 独立基准验证：被试内 76.90%、LOSO 66.51%，多数据集泛化能力得到佐证。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10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八、新用户上线流程量化对比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875520" y="292608"/>
            <a:ext cx="2103120" cy="457200"/>
          </a:xfrm>
          <a:prstGeom prst="round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0" y="292608"/>
            <a:ext cx="210312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100" b="1" i="0">
                <a:solidFill>
                  <a:srgbClr val="0F766E"/>
                </a:solidFill>
                <a:latin typeface="微软雅黑" panose="020B0503020204020204" charset="-122"/>
              </a:rPr>
              <a:t>本机实测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11480" y="1280160"/>
            <a:ext cx="5486400" cy="4480560"/>
          </a:xfrm>
          <a:prstGeom prst="roundRect">
            <a:avLst/>
          </a:prstGeom>
          <a:solidFill>
            <a:srgbClr val="F5F0EB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371600"/>
            <a:ext cx="5486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475569"/>
                </a:solidFill>
                <a:latin typeface="微软雅黑" panose="020B0503020204020204" charset="-122"/>
              </a:rPr>
              <a:t>传统有标签校准</a:t>
            </a:r>
            <a:endParaRPr sz="1800" b="1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25880" y="2084831"/>
            <a:ext cx="3657600" cy="16459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475569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标签试验 120 个（3 类 × 40）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75569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范式采集约 19 分钟（9.30 s/试验）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75569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个性化训练 CPU 约 45 s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475569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STFA 56.79 ± 13.05%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309360" y="1280160"/>
            <a:ext cx="5486400" cy="4480560"/>
          </a:xfrm>
          <a:prstGeom prst="roundRect">
            <a:avLst/>
          </a:prstGeom>
          <a:solidFill>
            <a:srgbClr val="E6F2F0"/>
          </a:solidFill>
          <a:ln w="1905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371600"/>
            <a:ext cx="5486400" cy="6400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/>
            <a:r>
              <a:rPr sz="1800" b="1" i="0">
                <a:solidFill>
                  <a:srgbClr val="0F766E"/>
                </a:solidFill>
                <a:latin typeface="微软雅黑" panose="020B0503020204020204" charset="-122"/>
              </a:rPr>
              <a:t>本作品免校准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23760" y="2084831"/>
            <a:ext cx="3657600" cy="201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23317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标签试验 0 个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无范式采集，模型跨用户共享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EA 对齐 22.5 ms（216 无标签试验）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600">
                <a:solidFill>
                  <a:srgbClr val="0F172A"/>
                </a:solidFill>
                <a:latin typeface="微软雅黑" panose="020B0503020204020204" charset="-122"/>
              </a:rPr>
              <a:t>LOSO 52.48 ± 15.13%（2b 迁移）</a:t>
            </a:r>
            <a:endParaRPr sz="16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5897880"/>
            <a:ext cx="11338560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1700" b="1" i="0">
                <a:solidFill>
                  <a:srgbClr val="0F766E"/>
                </a:solidFill>
                <a:latin typeface="微软雅黑" panose="020B0503020204020204" charset="-122"/>
              </a:rPr>
              <a:t>约 19 分钟有标签采集 ⇄ 4.31 个百分点：效率收益可量化、可核对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11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九、应用演示与价值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0F172A"/>
                </a:solidFill>
                <a:latin typeface="微软雅黑" panose="020B0503020204020204" charset="-122"/>
              </a:rPr>
              <a:t>新用户佩戴头帽，秒级 EA 对齐</a:t>
            </a:r>
            <a:endParaRPr sz="17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0F172A"/>
                </a:solidFill>
                <a:latin typeface="微软雅黑" panose="020B0503020204020204" charset="-122"/>
              </a:rPr>
              <a:t>想象肢体运动 → STFA 实时推理</a:t>
            </a:r>
            <a:endParaRPr sz="17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0F172A"/>
                </a:solidFill>
                <a:latin typeface="微软雅黑" panose="020B0503020204020204" charset="-122"/>
              </a:rPr>
              <a:t>三指令驱动机械臂闭环动作</a:t>
            </a:r>
            <a:endParaRPr sz="17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0F172A"/>
                </a:solidFill>
                <a:latin typeface="微软雅黑" panose="020B0503020204020204" charset="-122"/>
              </a:rPr>
              <a:t>展示决策脑区与置信度，可示教</a:t>
            </a:r>
            <a:endParaRPr sz="17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700">
                <a:solidFill>
                  <a:srgbClr val="0F172A"/>
                </a:solidFill>
                <a:latin typeface="微软雅黑" panose="020B0503020204020204" charset="-122"/>
              </a:rPr>
              <a:t>CPU 即可运行（≈3.1 ms/片段）</a:t>
            </a:r>
            <a:endParaRPr sz="17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12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3130" y="1279525"/>
            <a:ext cx="3474720" cy="2316480"/>
          </a:xfrm>
          <a:prstGeom prst="rect">
            <a:avLst/>
          </a:prstGeom>
        </p:spPr>
      </p:pic>
      <p:pic>
        <p:nvPicPr>
          <p:cNvPr id="16" name="Picture 15" descr="real_robot_1_land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130" y="3596005"/>
            <a:ext cx="347472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10241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0"/>
            <a:ext cx="12024360" cy="36576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"/>
            <a:ext cx="9601200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  <a:latin typeface="微软雅黑" panose="020B0503020204020204" charset="-122"/>
              </a:rPr>
              <a:t>十、创新点总结</a:t>
            </a:r>
            <a:endParaRPr sz="26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932688"/>
            <a:ext cx="2011680" cy="320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68880" y="946403"/>
            <a:ext cx="9326880" cy="10972"/>
          </a:xfrm>
          <a:prstGeom prst="rect">
            <a:avLst/>
          </a:prstGeom>
          <a:solidFill>
            <a:srgbClr val="CBD5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627632"/>
            <a:ext cx="8229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200" b="1" i="0">
                <a:solidFill>
                  <a:srgbClr val="CBD5D1"/>
                </a:solidFill>
                <a:latin typeface="微软雅黑" panose="020B0503020204020204" charset="-122"/>
              </a:rPr>
              <a:t>01</a:t>
            </a:r>
            <a:endParaRPr sz="2200" b="1" i="0">
              <a:solidFill>
                <a:srgbClr val="CBD5D1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00200" y="1664208"/>
            <a:ext cx="4114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MAG 零初始化门控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00200" y="2395728"/>
            <a:ext cx="41148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x·(1+αw)，α 可导出，数据裁决模块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09359" y="146304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1627632"/>
            <a:ext cx="8229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200" b="1" i="0">
                <a:solidFill>
                  <a:srgbClr val="CBD5D1"/>
                </a:solidFill>
                <a:latin typeface="微软雅黑" panose="020B0503020204020204" charset="-122"/>
              </a:rPr>
              <a:t>02</a:t>
            </a:r>
            <a:endParaRPr sz="2200" b="1" i="0">
              <a:solidFill>
                <a:srgbClr val="CBD5D1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60919" y="1664208"/>
            <a:ext cx="4114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免校准推理流程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60919" y="2395728"/>
            <a:ext cx="41148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EA（无标签、22.5ms）+ GRL 域对抗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6576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3822191"/>
            <a:ext cx="8229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200" b="1" i="0">
                <a:solidFill>
                  <a:srgbClr val="CBD5D1"/>
                </a:solidFill>
                <a:latin typeface="微软雅黑" panose="020B0503020204020204" charset="-122"/>
              </a:rPr>
              <a:t>03</a:t>
            </a:r>
            <a:endParaRPr sz="2200" b="1" i="0">
              <a:solidFill>
                <a:srgbClr val="CBD5D1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858768"/>
            <a:ext cx="4114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严谨实验协议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600200" y="4590288"/>
            <a:ext cx="41148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5 seeds + 消融 + LOSO，负面结果诚实报告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309359" y="3657600"/>
            <a:ext cx="539496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79" y="3822191"/>
            <a:ext cx="82296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200" b="1" i="0">
                <a:solidFill>
                  <a:srgbClr val="CBD5D1"/>
                </a:solidFill>
                <a:latin typeface="微软雅黑" panose="020B0503020204020204" charset="-122"/>
              </a:rPr>
              <a:t>04</a:t>
            </a:r>
            <a:endParaRPr sz="2200" b="1" i="0">
              <a:solidFill>
                <a:srgbClr val="CBD5D1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60919" y="3858768"/>
            <a:ext cx="4114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2000" b="1" i="0">
                <a:solidFill>
                  <a:srgbClr val="0F766E"/>
                </a:solidFill>
                <a:latin typeface="微软雅黑" panose="020B0503020204020204" charset="-122"/>
              </a:rPr>
              <a:t>轻量化可部署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60919" y="4590288"/>
            <a:ext cx="411480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500" b="0" i="0">
                <a:solidFill>
                  <a:srgbClr val="0F172A"/>
                </a:solidFill>
                <a:latin typeface="微软雅黑" panose="020B0503020204020204" charset="-122"/>
              </a:rPr>
              <a:t>13,469 参数，CPU 实时，无需专用硬件</a:t>
            </a:r>
            <a:endParaRPr sz="1500" b="0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微软雅黑" panose="020B0503020204020204" charset="-122"/>
              </a:rPr>
              <a:t>机械臂意念控制的自适应脑电解码算法</a:t>
            </a:r>
            <a:endParaRPr sz="10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/>
            <a:r>
              <a:rPr sz="1100" b="0" i="0">
                <a:solidFill>
                  <a:srgbClr val="475569"/>
                </a:solidFill>
                <a:latin typeface="微软雅黑" panose="020B0503020204020204" charset="-122"/>
              </a:rPr>
              <a:t>13</a:t>
            </a:r>
            <a:endParaRPr sz="1100" b="0" i="0">
              <a:solidFill>
                <a:srgbClr val="47556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E6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303520"/>
            <a:ext cx="12191695" cy="228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3400" b="1" i="0">
                <a:solidFill>
                  <a:srgbClr val="0F172A"/>
                </a:solidFill>
                <a:latin typeface="微软雅黑" panose="020B0503020204020204" charset="-122"/>
              </a:rPr>
              <a:t>总结与展望</a:t>
            </a:r>
            <a:endParaRPr sz="3400" b="1" i="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27448" y="2286000"/>
            <a:ext cx="2743200" cy="2743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697480"/>
            <a:ext cx="69494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900">
                <a:solidFill>
                  <a:srgbClr val="0F172A"/>
                </a:solidFill>
                <a:latin typeface="微软雅黑" panose="020B0503020204020204" charset="-122"/>
              </a:rPr>
              <a:t>无监督域适应：缩小被试间分布差异</a:t>
            </a:r>
            <a:endParaRPr sz="19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900">
                <a:solidFill>
                  <a:srgbClr val="0F172A"/>
                </a:solidFill>
                <a:latin typeface="微软雅黑" panose="020B0503020204020204" charset="-122"/>
              </a:rPr>
              <a:t>个性化在线自适应：信号质量条件化门控</a:t>
            </a:r>
            <a:endParaRPr sz="19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900">
                <a:solidFill>
                  <a:srgbClr val="0F172A"/>
                </a:solidFill>
                <a:latin typeface="微软雅黑" panose="020B0503020204020204" charset="-122"/>
              </a:rPr>
              <a:t>真实康复场景试点：ALS/卒中患者验证</a:t>
            </a:r>
            <a:endParaRPr sz="1900">
              <a:solidFill>
                <a:srgbClr val="0F172A"/>
              </a:solidFill>
              <a:latin typeface="微软雅黑" panose="020B0503020204020204" charset="-122"/>
            </a:endParaRPr>
          </a:p>
          <a:p>
            <a:pPr>
              <a:spcAft>
                <a:spcPts val="1400"/>
              </a:spcAft>
            </a:pPr>
            <a:r>
              <a:rPr sz="1900" b="1">
                <a:solidFill>
                  <a:srgbClr val="0F766E"/>
                </a:solidFill>
                <a:latin typeface="微软雅黑" panose="020B0503020204020204" charset="-122"/>
              </a:rPr>
              <a:t>▪ </a:t>
            </a:r>
            <a:r>
              <a:rPr sz="1900">
                <a:solidFill>
                  <a:srgbClr val="0F172A"/>
                </a:solidFill>
                <a:latin typeface="微软雅黑" panose="020B0503020204020204" charset="-122"/>
              </a:rPr>
              <a:t>跨数据集泛化：IV-2b / PhysioNet</a:t>
            </a:r>
            <a:endParaRPr sz="1900">
              <a:solidFill>
                <a:srgbClr val="0F172A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5623560"/>
            <a:ext cx="1033272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600" b="1" i="0">
                <a:solidFill>
                  <a:srgbClr val="0F766E"/>
                </a:solidFill>
                <a:latin typeface="微软雅黑" panose="020B0503020204020204" charset="-122"/>
              </a:rPr>
              <a:t>感谢各位老师！恳请批评指正。</a:t>
            </a:r>
            <a:endParaRPr sz="2600" b="1" i="0">
              <a:solidFill>
                <a:srgbClr val="0F766E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3125</Words>
  <Application>WPS 演示</Application>
  <PresentationFormat>On-screen Show (4:3)</PresentationFormat>
  <Paragraphs>461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WPS_1226477341</cp:lastModifiedBy>
  <cp:revision>2</cp:revision>
  <dcterms:created xsi:type="dcterms:W3CDTF">2013-01-27T09:14:00Z</dcterms:created>
  <dcterms:modified xsi:type="dcterms:W3CDTF">2026-09-26T10:02:57Z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17D101749855433F9AAFB7C94AA3D768_12</vt:lpwstr>
  </property>
  <property fmtid="{D5CDD505-2E9C-101B-9397-08002B2CF9AE}" pid="3" name="KSOProductBuildVer">
    <vt:lpwstr>2052-12.1.0.28505</vt:lpwstr>
  </property>
</Properties>
</file>